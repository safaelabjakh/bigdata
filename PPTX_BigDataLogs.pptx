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rmorant Garamond Bold Italics" charset="1" panose="00000800000000000000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Quicksand Bold" charset="1" panose="00000000000000000000"/>
      <p:regular r:id="rId24"/>
    </p:embeddedFont>
    <p:embeddedFont>
      <p:font typeface="Quicksan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49720"/>
            <a:ext cx="16229942" cy="289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29"/>
              </a:lnSpc>
              <a:spcBef>
                <a:spcPct val="0"/>
              </a:spcBef>
            </a:pPr>
            <a:r>
              <a:rPr lang="en-US" b="true" sz="16878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Projet Big Data : 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93354" y="6435589"/>
            <a:ext cx="17530762" cy="2321767"/>
            <a:chOff x="0" y="0"/>
            <a:chExt cx="23374350" cy="3095690"/>
          </a:xfrm>
        </p:grpSpPr>
        <p:sp>
          <p:nvSpPr>
            <p:cNvPr name="AutoShape 8" id="8"/>
            <p:cNvSpPr/>
            <p:nvPr/>
          </p:nvSpPr>
          <p:spPr>
            <a:xfrm flipV="true">
              <a:off x="14407411" y="1645107"/>
              <a:ext cx="6345353" cy="0"/>
            </a:xfrm>
            <a:prstGeom prst="line">
              <a:avLst/>
            </a:prstGeom>
            <a:ln cap="rnd" w="25400">
              <a:solidFill>
                <a:srgbClr val="75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 flipV="true">
              <a:off x="2762482" y="1632407"/>
              <a:ext cx="6345353" cy="0"/>
            </a:xfrm>
            <a:prstGeom prst="line">
              <a:avLst/>
            </a:prstGeom>
            <a:ln cap="rnd" w="25400">
              <a:solidFill>
                <a:srgbClr val="75707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3374350" cy="3095690"/>
              <a:chOff x="0" y="0"/>
              <a:chExt cx="23374350" cy="30956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374350" cy="3095752"/>
              </a:xfrm>
              <a:custGeom>
                <a:avLst/>
                <a:gdLst/>
                <a:ahLst/>
                <a:cxnLst/>
                <a:rect r="r" b="b" t="t" l="l"/>
                <a:pathLst>
                  <a:path h="3095752" w="23374350">
                    <a:moveTo>
                      <a:pt x="0" y="0"/>
                    </a:moveTo>
                    <a:lnTo>
                      <a:pt x="23374350" y="0"/>
                    </a:lnTo>
                    <a:lnTo>
                      <a:pt x="23374350" y="3095752"/>
                    </a:lnTo>
                    <a:lnTo>
                      <a:pt x="0" y="3095752"/>
                    </a:lnTo>
                    <a:close/>
                  </a:path>
                </a:pathLst>
              </a:custGeom>
              <a:solidFill>
                <a:srgbClr val="1E62EC">
                  <a:alpha val="24706"/>
                </a:srgbClr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94343" y="883107"/>
              <a:ext cx="4872939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E21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Préparée par :</a:t>
              </a:r>
            </a:p>
            <a:p>
              <a:pPr algn="ctr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21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LABJAKH Safae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058953" y="883107"/>
              <a:ext cx="6635684" cy="184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E21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Encadré par : </a:t>
              </a:r>
            </a:p>
            <a:p>
              <a:pPr algn="ctr">
                <a:lnSpc>
                  <a:spcPts val="2879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21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Mr.BADIR Hassan</a:t>
              </a:r>
            </a:p>
            <a:p>
              <a:pPr algn="l">
                <a:lnSpc>
                  <a:spcPts val="252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194343" y="883107"/>
              <a:ext cx="4872939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E21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Préparée par :</a:t>
              </a:r>
            </a:p>
            <a:p>
              <a:pPr algn="ctr">
                <a:lnSpc>
                  <a:spcPts val="2879"/>
                </a:lnSpc>
              </a:pPr>
            </a:p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E21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LABJAKH Safae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5058953" y="883107"/>
              <a:ext cx="6635684" cy="1841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E215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Encadré par : </a:t>
              </a:r>
            </a:p>
            <a:p>
              <a:pPr algn="ctr">
                <a:lnSpc>
                  <a:spcPts val="2879"/>
                </a:lnSpc>
              </a:pPr>
            </a:p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E215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Mr.BADIR Hassan</a:t>
              </a:r>
            </a:p>
            <a:p>
              <a:pPr algn="l">
                <a:lnSpc>
                  <a:spcPts val="2520"/>
                </a:lnSpc>
              </a:pPr>
            </a:p>
          </p:txBody>
        </p:sp>
        <p:sp>
          <p:nvSpPr>
            <p:cNvPr name="AutoShape 16" id="16"/>
            <p:cNvSpPr/>
            <p:nvPr/>
          </p:nvSpPr>
          <p:spPr>
            <a:xfrm flipV="true">
              <a:off x="14407411" y="1645107"/>
              <a:ext cx="6345353" cy="0"/>
            </a:xfrm>
            <a:prstGeom prst="line">
              <a:avLst/>
            </a:prstGeom>
            <a:ln cap="rnd" w="25400">
              <a:solidFill>
                <a:srgbClr val="75707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2762482" y="1632407"/>
              <a:ext cx="6345353" cy="0"/>
            </a:xfrm>
            <a:prstGeom prst="line">
              <a:avLst/>
            </a:prstGeom>
            <a:ln cap="rnd" w="25400">
              <a:solidFill>
                <a:srgbClr val="75707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242297" y="4905606"/>
            <a:ext cx="5802749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Kafka &amp; Spark Streaming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881035" y="518189"/>
            <a:ext cx="3378265" cy="1901463"/>
          </a:xfrm>
          <a:custGeom>
            <a:avLst/>
            <a:gdLst/>
            <a:ahLst/>
            <a:cxnLst/>
            <a:rect r="r" b="b" t="t" l="l"/>
            <a:pathLst>
              <a:path h="1901463" w="3378265">
                <a:moveTo>
                  <a:pt x="0" y="0"/>
                </a:moveTo>
                <a:lnTo>
                  <a:pt x="3378265" y="0"/>
                </a:lnTo>
                <a:lnTo>
                  <a:pt x="3378265" y="1901462"/>
                </a:lnTo>
                <a:lnTo>
                  <a:pt x="0" y="1901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28700" y="335209"/>
            <a:ext cx="3116510" cy="1750550"/>
          </a:xfrm>
          <a:custGeom>
            <a:avLst/>
            <a:gdLst/>
            <a:ahLst/>
            <a:cxnLst/>
            <a:rect r="r" b="b" t="t" l="l"/>
            <a:pathLst>
              <a:path h="1750550" w="3116510">
                <a:moveTo>
                  <a:pt x="0" y="0"/>
                </a:moveTo>
                <a:lnTo>
                  <a:pt x="3116510" y="0"/>
                </a:lnTo>
                <a:lnTo>
                  <a:pt x="3116510" y="1750550"/>
                </a:lnTo>
                <a:lnTo>
                  <a:pt x="0" y="17505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0398" y="2197922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Contexte du projet</a:t>
            </a:r>
          </a:p>
        </p:txBody>
      </p:sp>
      <p:sp>
        <p:nvSpPr>
          <p:cNvPr name="AutoShape 6" id="6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169" y="4373016"/>
            <a:ext cx="15749112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2878" indent="-536439" lvl="1">
              <a:lnSpc>
                <a:spcPts val="5963"/>
              </a:lnSpc>
              <a:buFont typeface="Arial"/>
              <a:buChar char="•"/>
            </a:pPr>
            <a:r>
              <a:rPr lang="en-US" sz="49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Explosion du volume de logs dans les systèmes modernes</a:t>
            </a:r>
          </a:p>
          <a:p>
            <a:pPr algn="l" marL="1072878" indent="-536439" lvl="1">
              <a:lnSpc>
                <a:spcPts val="5963"/>
              </a:lnSpc>
              <a:buFont typeface="Arial"/>
              <a:buChar char="•"/>
            </a:pPr>
            <a:r>
              <a:rPr lang="en-US" sz="49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Besoin de traitement en temps réel pour la supervision</a:t>
            </a:r>
          </a:p>
          <a:p>
            <a:pPr algn="l" marL="1072878" indent="-536439" lvl="1">
              <a:lnSpc>
                <a:spcPts val="5963"/>
              </a:lnSpc>
              <a:buFont typeface="Arial"/>
              <a:buChar char="•"/>
            </a:pPr>
            <a:r>
              <a:rPr lang="en-US" sz="496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Importance des architectures Big Data distribuées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63754" y="4265092"/>
            <a:ext cx="13095546" cy="19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250" indent="-340625" lvl="1">
              <a:lnSpc>
                <a:spcPts val="5364"/>
              </a:lnSpc>
              <a:buFont typeface="Arial"/>
              <a:buChar char="•"/>
            </a:pPr>
            <a:r>
              <a:rPr lang="en-US" sz="315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Concevoir une architecture scalable et fiable</a:t>
            </a:r>
          </a:p>
          <a:p>
            <a:pPr algn="l" marL="681250" indent="-340625" lvl="1">
              <a:lnSpc>
                <a:spcPts val="5364"/>
              </a:lnSpc>
              <a:buFont typeface="Arial"/>
              <a:buChar char="•"/>
            </a:pPr>
            <a:r>
              <a:rPr lang="en-US" sz="315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Traiter des flux de logs en temps réel</a:t>
            </a:r>
          </a:p>
          <a:p>
            <a:pPr algn="l" marL="681250" indent="-340625" lvl="1">
              <a:lnSpc>
                <a:spcPts val="5364"/>
              </a:lnSpc>
              <a:buFont typeface="Arial"/>
              <a:buChar char="•"/>
            </a:pPr>
            <a:r>
              <a:rPr lang="en-US" sz="3155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Garantir performance, résilience et extensibilité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4705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Problématique et objectifs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801952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Technologies utilisées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86084"/>
            <a:ext cx="6938067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Apache Kafka : ingestion et distribution des données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Apache Spark Streaming : traitement en temps réel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Docker &amp; Docker Compose : conteneurisation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Python : développement du producteur et du consumer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632" y="5417092"/>
            <a:ext cx="17051300" cy="2962663"/>
          </a:xfrm>
          <a:custGeom>
            <a:avLst/>
            <a:gdLst/>
            <a:ahLst/>
            <a:cxnLst/>
            <a:rect r="r" b="b" t="t" l="l"/>
            <a:pathLst>
              <a:path h="2962663" w="17051300">
                <a:moveTo>
                  <a:pt x="0" y="0"/>
                </a:moveTo>
                <a:lnTo>
                  <a:pt x="17051300" y="0"/>
                </a:lnTo>
                <a:lnTo>
                  <a:pt x="17051300" y="2962663"/>
                </a:lnTo>
                <a:lnTo>
                  <a:pt x="0" y="2962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Architecture du système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384" y="2050556"/>
            <a:ext cx="12024547" cy="239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585" indent="-370293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Producteur Python : génération de logs simulés</a:t>
            </a:r>
          </a:p>
          <a:p>
            <a:pPr algn="just" marL="740585" indent="-370293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Kafka : stockage et diffusion des messages</a:t>
            </a:r>
          </a:p>
          <a:p>
            <a:pPr algn="just" marL="740585" indent="-370293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Spark Streaming : traitement par micro-batches</a:t>
            </a:r>
          </a:p>
          <a:p>
            <a:pPr algn="just" marL="740585" indent="-370293" lvl="1">
              <a:lnSpc>
                <a:spcPts val="4802"/>
              </a:lnSpc>
              <a:buFont typeface="Arial"/>
              <a:buChar char="•"/>
            </a:pPr>
            <a:r>
              <a:rPr lang="en-US" sz="343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Sortie console et persistance en fichiers Parquet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Flux de données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65853" y="2813695"/>
            <a:ext cx="12958520" cy="514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 Génération de logs (timestamp, niveau, message) </a:t>
            </a:r>
          </a:p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 Envoi au topic Kafka app-logs </a:t>
            </a:r>
          </a:p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 Réplication et persistance dans Kafka </a:t>
            </a:r>
          </a:p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 Lecture par Spark Streaming (micro-batches) </a:t>
            </a:r>
          </a:p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 Transformation et parsing des données</a:t>
            </a:r>
          </a:p>
          <a:p>
            <a:pPr algn="l">
              <a:lnSpc>
                <a:spcPts val="6885"/>
              </a:lnSpc>
              <a:spcBef>
                <a:spcPct val="0"/>
              </a:spcBef>
            </a:pPr>
            <a:r>
              <a:rPr lang="en-US" b="true" sz="405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6. Affichage des résultats sur console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3479" y="428942"/>
            <a:ext cx="1074131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Mise en place de l’environnement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74152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767060" y="10287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72821" y="3472794"/>
            <a:ext cx="5677780" cy="6306829"/>
          </a:xfrm>
          <a:custGeom>
            <a:avLst/>
            <a:gdLst/>
            <a:ahLst/>
            <a:cxnLst/>
            <a:rect r="r" b="b" t="t" l="l"/>
            <a:pathLst>
              <a:path h="6306829" w="5677780">
                <a:moveTo>
                  <a:pt x="0" y="0"/>
                </a:moveTo>
                <a:lnTo>
                  <a:pt x="5677780" y="0"/>
                </a:lnTo>
                <a:lnTo>
                  <a:pt x="5677780" y="6306829"/>
                </a:lnTo>
                <a:lnTo>
                  <a:pt x="0" y="6306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06335" y="2923086"/>
            <a:ext cx="8652965" cy="6727680"/>
          </a:xfrm>
          <a:custGeom>
            <a:avLst/>
            <a:gdLst/>
            <a:ahLst/>
            <a:cxnLst/>
            <a:rect r="r" b="b" t="t" l="l"/>
            <a:pathLst>
              <a:path h="6727680" w="8652965">
                <a:moveTo>
                  <a:pt x="0" y="0"/>
                </a:moveTo>
                <a:lnTo>
                  <a:pt x="8652965" y="0"/>
                </a:lnTo>
                <a:lnTo>
                  <a:pt x="8652965" y="6727681"/>
                </a:lnTo>
                <a:lnTo>
                  <a:pt x="0" y="6727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6295" y="1758206"/>
            <a:ext cx="6684645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Cluster Kafka &amp; Spark déployé avec Docker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Orchestration via Docker Compose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Services isolés et reproductibles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4836" y="3303363"/>
            <a:ext cx="11301259" cy="4379238"/>
          </a:xfrm>
          <a:custGeom>
            <a:avLst/>
            <a:gdLst/>
            <a:ahLst/>
            <a:cxnLst/>
            <a:rect r="r" b="b" t="t" l="l"/>
            <a:pathLst>
              <a:path h="4379238" w="11301259">
                <a:moveTo>
                  <a:pt x="0" y="0"/>
                </a:moveTo>
                <a:lnTo>
                  <a:pt x="11301259" y="0"/>
                </a:lnTo>
                <a:lnTo>
                  <a:pt x="11301259" y="4379238"/>
                </a:lnTo>
                <a:lnTo>
                  <a:pt x="0" y="437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4836" y="8625835"/>
            <a:ext cx="11301259" cy="791088"/>
          </a:xfrm>
          <a:custGeom>
            <a:avLst/>
            <a:gdLst/>
            <a:ahLst/>
            <a:cxnLst/>
            <a:rect r="r" b="b" t="t" l="l"/>
            <a:pathLst>
              <a:path h="791088" w="11301259">
                <a:moveTo>
                  <a:pt x="0" y="0"/>
                </a:moveTo>
                <a:lnTo>
                  <a:pt x="11301259" y="0"/>
                </a:lnTo>
                <a:lnTo>
                  <a:pt x="11301259" y="791088"/>
                </a:lnTo>
                <a:lnTo>
                  <a:pt x="0" y="791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07934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Développement du Producteur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6069" y="1931763"/>
            <a:ext cx="1052775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Le producteur génère des logs simulés avec différents nive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aux (INFO, WARN, ERROR) et les envoie à Kafka.s based on initial results.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836" y="7926155"/>
            <a:ext cx="215769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Execution :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4570" y="2533202"/>
            <a:ext cx="7929430" cy="3898210"/>
          </a:xfrm>
          <a:custGeom>
            <a:avLst/>
            <a:gdLst/>
            <a:ahLst/>
            <a:cxnLst/>
            <a:rect r="r" b="b" t="t" l="l"/>
            <a:pathLst>
              <a:path h="3898210" w="7929430">
                <a:moveTo>
                  <a:pt x="0" y="0"/>
                </a:moveTo>
                <a:lnTo>
                  <a:pt x="7929430" y="0"/>
                </a:lnTo>
                <a:lnTo>
                  <a:pt x="7929430" y="3898210"/>
                </a:lnTo>
                <a:lnTo>
                  <a:pt x="0" y="3898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72338" y="3522438"/>
            <a:ext cx="7309062" cy="5253388"/>
          </a:xfrm>
          <a:custGeom>
            <a:avLst/>
            <a:gdLst/>
            <a:ahLst/>
            <a:cxnLst/>
            <a:rect r="r" b="b" t="t" l="l"/>
            <a:pathLst>
              <a:path h="5253388" w="7309062">
                <a:moveTo>
                  <a:pt x="0" y="0"/>
                </a:moveTo>
                <a:lnTo>
                  <a:pt x="7309062" y="0"/>
                </a:lnTo>
                <a:lnTo>
                  <a:pt x="7309062" y="5253388"/>
                </a:lnTo>
                <a:lnTo>
                  <a:pt x="0" y="5253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1070007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Développement du Consommateur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6069" y="1931763"/>
            <a:ext cx="1122556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Le consumer lit les logs depuis Kafka, les traite</a:t>
            </a: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 et les affiche en temps réel.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31537" y="2665188"/>
            <a:ext cx="215769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Execution 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0874" y="3110661"/>
            <a:ext cx="12242388" cy="1836358"/>
          </a:xfrm>
          <a:custGeom>
            <a:avLst/>
            <a:gdLst/>
            <a:ahLst/>
            <a:cxnLst/>
            <a:rect r="r" b="b" t="t" l="l"/>
            <a:pathLst>
              <a:path h="1836358" w="12242388">
                <a:moveTo>
                  <a:pt x="0" y="0"/>
                </a:moveTo>
                <a:lnTo>
                  <a:pt x="12242387" y="0"/>
                </a:lnTo>
                <a:lnTo>
                  <a:pt x="12242387" y="1836358"/>
                </a:lnTo>
                <a:lnTo>
                  <a:pt x="0" y="183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522917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Lancement de l’application Spark Streaming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0874" y="2229566"/>
            <a:ext cx="1245443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Pour exécuter l’application de streaming, nous utilisons la commande Docker suivante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9912" y="6251944"/>
            <a:ext cx="1605938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Quicksand"/>
                <a:ea typeface="Quicksand"/>
                <a:cs typeface="Quicksand"/>
                <a:sym typeface="Quicksand"/>
              </a:rPr>
              <a:t>Cette commande permet de soumettre le script Python au cluster Spark avec les dépendances Kafka nécessaires.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0535" y="2529366"/>
            <a:ext cx="6523465" cy="7757634"/>
          </a:xfrm>
          <a:custGeom>
            <a:avLst/>
            <a:gdLst/>
            <a:ahLst/>
            <a:cxnLst/>
            <a:rect r="r" b="b" t="t" l="l"/>
            <a:pathLst>
              <a:path h="7757634" w="6523465">
                <a:moveTo>
                  <a:pt x="0" y="0"/>
                </a:moveTo>
                <a:lnTo>
                  <a:pt x="6523465" y="0"/>
                </a:lnTo>
                <a:lnTo>
                  <a:pt x="6523465" y="7757634"/>
                </a:lnTo>
                <a:lnTo>
                  <a:pt x="0" y="7757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Initialisation du système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2757"/>
            <a:ext cx="1210767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Au démarrage, l’application affiche les informations d’initialisation suivantes: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416" y="3317852"/>
            <a:ext cx="7828837" cy="3606857"/>
          </a:xfrm>
          <a:custGeom>
            <a:avLst/>
            <a:gdLst/>
            <a:ahLst/>
            <a:cxnLst/>
            <a:rect r="r" b="b" t="t" l="l"/>
            <a:pathLst>
              <a:path h="3606857" w="7828837">
                <a:moveTo>
                  <a:pt x="0" y="0"/>
                </a:moveTo>
                <a:lnTo>
                  <a:pt x="7828837" y="0"/>
                </a:lnTo>
                <a:lnTo>
                  <a:pt x="7828837" y="3606857"/>
                </a:lnTo>
                <a:lnTo>
                  <a:pt x="0" y="3606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63470" y="5767540"/>
            <a:ext cx="10473803" cy="4167197"/>
          </a:xfrm>
          <a:custGeom>
            <a:avLst/>
            <a:gdLst/>
            <a:ahLst/>
            <a:cxnLst/>
            <a:rect r="r" b="b" t="t" l="l"/>
            <a:pathLst>
              <a:path h="4167197" w="10473803">
                <a:moveTo>
                  <a:pt x="0" y="0"/>
                </a:moveTo>
                <a:lnTo>
                  <a:pt x="10473803" y="0"/>
                </a:lnTo>
                <a:lnTo>
                  <a:pt x="10473803" y="4167197"/>
                </a:lnTo>
                <a:lnTo>
                  <a:pt x="0" y="4167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99709"/>
            <a:ext cx="1032659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Traitement des logs en temps réel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22757"/>
            <a:ext cx="1210767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Un</a:t>
            </a:r>
            <a:r>
              <a:rPr lang="en-US" b="true" sz="3199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 fois le système opérationnel, les logs sont traités par batch toutes les 10 secondes. La figure suivante montre un exemple de batch trait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4582" y="1684924"/>
            <a:ext cx="10565605" cy="3671863"/>
          </a:xfrm>
          <a:custGeom>
            <a:avLst/>
            <a:gdLst/>
            <a:ahLst/>
            <a:cxnLst/>
            <a:rect r="r" b="b" t="t" l="l"/>
            <a:pathLst>
              <a:path h="3671863" w="10565605">
                <a:moveTo>
                  <a:pt x="0" y="0"/>
                </a:moveTo>
                <a:lnTo>
                  <a:pt x="10565605" y="0"/>
                </a:lnTo>
                <a:lnTo>
                  <a:pt x="10565605" y="3671863"/>
                </a:lnTo>
                <a:lnTo>
                  <a:pt x="0" y="3671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032614"/>
            <a:ext cx="10648068" cy="3514387"/>
          </a:xfrm>
          <a:custGeom>
            <a:avLst/>
            <a:gdLst/>
            <a:ahLst/>
            <a:cxnLst/>
            <a:rect r="r" b="b" t="t" l="l"/>
            <a:pathLst>
              <a:path h="3514387" w="10648068">
                <a:moveTo>
                  <a:pt x="0" y="0"/>
                </a:moveTo>
                <a:lnTo>
                  <a:pt x="10648068" y="0"/>
                </a:lnTo>
                <a:lnTo>
                  <a:pt x="10648068" y="3514387"/>
                </a:lnTo>
                <a:lnTo>
                  <a:pt x="0" y="3514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42746"/>
            <a:ext cx="14533979" cy="104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  <a:spcBef>
                <a:spcPct val="0"/>
              </a:spcBef>
            </a:pPr>
            <a:r>
              <a:rPr lang="en-US" sz="28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L’application peut être arrêtée proprement en utilisant Ctrl+C, ce qui déclenche un arrêt gracieux de tous les streams: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3404" y="5371436"/>
            <a:ext cx="16841192" cy="53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  <a:spcBef>
                <a:spcPct val="0"/>
              </a:spcBef>
            </a:pPr>
            <a:r>
              <a:rPr lang="en-US" sz="284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Les  métriques observées pendant l’exécution du système de streaming sont présentées dans le tableau suivant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05830" y="6662694"/>
            <a:ext cx="6430816" cy="259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3"/>
              </a:lnSpc>
              <a:spcBef>
                <a:spcPct val="0"/>
              </a:spcBef>
            </a:pPr>
            <a:r>
              <a:rPr lang="en-US" b="true" sz="3702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Le système démontre une stabilité et une fiabilité optimales avec un traitement continu sans interruption des flux de logs provenant de Kafka.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157" y="1715251"/>
            <a:ext cx="6968619" cy="103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1"/>
              </a:lnSpc>
              <a:spcBef>
                <a:spcPct val="0"/>
              </a:spcBef>
            </a:pPr>
            <a:r>
              <a:rPr lang="en-US" b="true" sz="6086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05887" y="3143634"/>
            <a:ext cx="15024872" cy="3207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b="true" sz="4597" i="true">
                <a:solidFill>
                  <a:srgbClr val="00000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Ce projet a permis de mettre en place avec succès un pipeline complet de traitement de logs en temps réel. Les objectifs techniques ont été atteints : déploiement de l’infra structure, développement du producteur et consommateur, traitement en temps réel et documentation complète.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DAG9BQ9RLsA</dc:identifier>
  <dcterms:modified xsi:type="dcterms:W3CDTF">2011-08-01T06:04:30Z</dcterms:modified>
  <cp:revision>1</cp:revision>
  <dc:title>PPTX_BigDataLogs</dc:title>
</cp:coreProperties>
</file>